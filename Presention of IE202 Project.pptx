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82" r:id="rId1"/>
    <p:sldMasterId id="2147483999" r:id="rId2"/>
  </p:sldMasterIdLst>
  <p:notesMasterIdLst>
    <p:notesMasterId r:id="rId21"/>
  </p:notesMasterIdLst>
  <p:sldIdLst>
    <p:sldId id="256" r:id="rId3"/>
    <p:sldId id="259" r:id="rId4"/>
    <p:sldId id="258" r:id="rId5"/>
    <p:sldId id="260" r:id="rId6"/>
    <p:sldId id="261" r:id="rId7"/>
    <p:sldId id="269" r:id="rId8"/>
    <p:sldId id="267" r:id="rId9"/>
    <p:sldId id="262" r:id="rId10"/>
    <p:sldId id="263" r:id="rId11"/>
    <p:sldId id="264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66" r:id="rId20"/>
  </p:sldIdLst>
  <p:sldSz cx="9144000" cy="5143500" type="screen16x9"/>
  <p:notesSz cx="6858000" cy="9144000"/>
  <p:embeddedFontLst>
    <p:embeddedFont>
      <p:font typeface="Alata" panose="020B0604020202020204" charset="0"/>
      <p:regular r:id="rId22"/>
    </p:embeddedFont>
    <p:embeddedFont>
      <p:font typeface="Anton" pitchFamily="2" charset="0"/>
      <p:regular r:id="rId23"/>
    </p:embeddedFont>
    <p:embeddedFont>
      <p:font typeface="Trebuchet MS" panose="020B0603020202020204" pitchFamily="34" charset="0"/>
      <p:regular r:id="rId24"/>
      <p:bold r:id="rId25"/>
      <p:italic r:id="rId26"/>
      <p:boldItalic r:id="rId27"/>
    </p:embeddedFont>
    <p:embeddedFont>
      <p:font typeface="Wingdings 3" panose="05040102010807070707" pitchFamily="18" charset="2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11:35:04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14:19:08.194"/>
    </inkml:context>
    <inkml:brush xml:id="br0">
      <inkml:brushProperty name="width" value="0.1" units="cm"/>
      <inkml:brushProperty name="height" value="0.1" units="cm"/>
      <inkml:brushProperty name="color" value="#408E3E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ar-S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ef931fea1c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2ef931fea1c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2ef931fea1c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f931fea1c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ef931fea1c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f931fea1c_1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2ef931fea1c_1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f931fea1c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g2ef931fea1c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f931fea1c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2ef931fea1c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f931fea1c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22" name="Google Shape;122;g2ef931fea1c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f931fea1c_1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2ef931fea1c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f931fea1c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2ef931fea1c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082457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69029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78956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95237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94527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343589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58985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870658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695555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366446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35203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8723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 ذات اقتبا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251309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اب أو خط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7986942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76316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9870426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868067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655308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9874873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8089060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6541789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8208852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494622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4027939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657407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624605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8838680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91084298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 ذات اقتبا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6305801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اب أو خط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18538820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48967175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8862362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99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  <p:sldLayoutId id="2147483994" r:id="rId12"/>
    <p:sldLayoutId id="2147483995" r:id="rId13"/>
    <p:sldLayoutId id="2147483996" r:id="rId14"/>
    <p:sldLayoutId id="2147483997" r:id="rId15"/>
    <p:sldLayoutId id="2147483998" r:id="rId16"/>
  </p:sldLayoutIdLst>
  <p:hf sldNum="0" hdr="0" ftr="0" dt="0"/>
  <p:txStyles>
    <p:titleStyle>
      <a:lvl1pPr algn="l" defTabSz="342900" rtl="1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57175" indent="-257175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401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  <p:sldLayoutId id="2147484012" r:id="rId13"/>
    <p:sldLayoutId id="2147484013" r:id="rId14"/>
    <p:sldLayoutId id="2147484014" r:id="rId15"/>
    <p:sldLayoutId id="2147484015" r:id="rId16"/>
  </p:sldLayoutIdLst>
  <p:hf sldNum="0" hdr="0" ftr="0" dt="0"/>
  <p:txStyles>
    <p:titleStyle>
      <a:lvl1pPr algn="l" defTabSz="342900" rtl="1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57175" indent="-257175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/>
        </p:nvSpPr>
        <p:spPr>
          <a:xfrm>
            <a:off x="2736963" y="2111547"/>
            <a:ext cx="3210362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         Team Members:</a:t>
            </a:r>
          </a:p>
          <a:p>
            <a:r>
              <a:rPr lang="en-US" b="1" dirty="0"/>
              <a:t>              Abdulelah</a:t>
            </a:r>
          </a:p>
          <a:p>
            <a:r>
              <a:rPr lang="en-US" b="1" dirty="0"/>
              <a:t>                Suliman </a:t>
            </a:r>
          </a:p>
          <a:p>
            <a:r>
              <a:rPr lang="en-US" b="1" dirty="0"/>
              <a:t>                 Saeed</a:t>
            </a:r>
          </a:p>
          <a:p>
            <a:r>
              <a:rPr lang="en-US" b="1" dirty="0"/>
              <a:t>                 Baraa</a:t>
            </a:r>
          </a:p>
          <a:p>
            <a:r>
              <a:rPr lang="en-US" b="1" dirty="0"/>
              <a:t>               Muhtadi </a:t>
            </a:r>
          </a:p>
          <a:p>
            <a:r>
              <a:rPr lang="en-US" b="1" dirty="0"/>
              <a:t>                   Alaa</a:t>
            </a:r>
            <a:endParaRPr lang="en-US" dirty="0"/>
          </a:p>
        </p:txBody>
      </p:sp>
      <p:sp>
        <p:nvSpPr>
          <p:cNvPr id="54" name="Google Shape;54;p11"/>
          <p:cNvSpPr txBox="1"/>
          <p:nvPr/>
        </p:nvSpPr>
        <p:spPr>
          <a:xfrm>
            <a:off x="10995409" y="-157833"/>
            <a:ext cx="503277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r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.</a:t>
            </a:r>
            <a:endParaRPr sz="700" dirty="0"/>
          </a:p>
        </p:txBody>
      </p:sp>
      <p:cxnSp>
        <p:nvCxnSpPr>
          <p:cNvPr id="55" name="Google Shape;55;p11"/>
          <p:cNvCxnSpPr/>
          <p:nvPr/>
        </p:nvCxnSpPr>
        <p:spPr>
          <a:xfrm>
            <a:off x="8135185" y="4699925"/>
            <a:ext cx="494465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stealth" w="med" len="med"/>
          </a:ln>
        </p:spPr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E84494B1-150A-3893-5DDD-A56C53821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441" y="145510"/>
            <a:ext cx="1758219" cy="1816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0D7C2EB-5F84-5600-3E68-985A5628D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ECE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Course Registration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382E023F-7648-1625-1057-CABB82913244}"/>
              </a:ext>
            </a:extLst>
          </p:cNvPr>
          <p:cNvSpPr txBox="1"/>
          <p:nvPr/>
        </p:nvSpPr>
        <p:spPr>
          <a:xfrm>
            <a:off x="1382750" y="723630"/>
            <a:ext cx="5710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Term Project - EE202: Object-Oriented Computer Programming</a:t>
            </a:r>
            <a:endParaRPr lang="ar-SA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/>
        </p:nvSpPr>
        <p:spPr>
          <a:xfrm>
            <a:off x="514350" y="516133"/>
            <a:ext cx="463112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/>
            <a:r>
              <a:rPr lang="en-US" sz="3200" dirty="0"/>
              <a:t>Project Overview</a:t>
            </a:r>
            <a:endParaRPr sz="3200" dirty="0"/>
          </a:p>
        </p:txBody>
      </p:sp>
      <p:sp>
        <p:nvSpPr>
          <p:cNvPr id="86" name="Google Shape;86;p14"/>
          <p:cNvSpPr txBox="1"/>
          <p:nvPr/>
        </p:nvSpPr>
        <p:spPr>
          <a:xfrm>
            <a:off x="5363218" y="700798"/>
            <a:ext cx="3173400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200" dirty="0">
              <a:solidFill>
                <a:srgbClr val="191515"/>
              </a:solidFill>
              <a:latin typeface="Anton"/>
              <a:sym typeface="Anton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200" dirty="0">
              <a:solidFill>
                <a:srgbClr val="191515"/>
              </a:solidFill>
              <a:latin typeface="Anton"/>
              <a:sym typeface="Anton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/>
          </a:p>
        </p:txBody>
      </p:sp>
      <p:sp>
        <p:nvSpPr>
          <p:cNvPr id="87" name="Google Shape;87;p14"/>
          <p:cNvSpPr txBox="1"/>
          <p:nvPr/>
        </p:nvSpPr>
        <p:spPr>
          <a:xfrm>
            <a:off x="297786" y="2866472"/>
            <a:ext cx="8548427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dirty="0"/>
              <a:t>The Problem:</a:t>
            </a:r>
            <a:r>
              <a:rPr lang="en-US" sz="1600" dirty="0"/>
              <a:t> The need for an automated system to manage complex academic rules and prevent scheduling conflicts.</a:t>
            </a:r>
          </a:p>
          <a:p>
            <a:endParaRPr lang="en-US" sz="1600" dirty="0"/>
          </a:p>
          <a:p>
            <a:r>
              <a:rPr lang="en-US" sz="1600" b="1" dirty="0"/>
              <a:t>The Solution:</a:t>
            </a:r>
            <a:r>
              <a:rPr lang="en-US" sz="1600" dirty="0"/>
              <a:t> A software solution designed to streamline the course registration process for the ECE department.</a:t>
            </a:r>
          </a:p>
          <a:p>
            <a:endParaRPr lang="en-US" sz="1000" b="0" i="0" u="none" strike="noStrike" cap="none" dirty="0">
              <a:solidFill>
                <a:srgbClr val="191515"/>
              </a:solidFill>
              <a:latin typeface="Alata"/>
              <a:ea typeface="Alata"/>
              <a:cs typeface="Alata"/>
              <a:sym typeface="Alata"/>
            </a:endParaRPr>
          </a:p>
          <a:p>
            <a:r>
              <a:rPr lang="en-US" sz="1600" b="1" dirty="0"/>
              <a:t>Goal:</a:t>
            </a:r>
            <a:r>
              <a:rPr lang="en-US" sz="1600" dirty="0"/>
              <a:t> Facilitate an efficient, error-free registration experience.</a:t>
            </a:r>
            <a:endParaRPr sz="1600" b="0" i="0" u="none" strike="noStrike" cap="none" dirty="0">
              <a:solidFill>
                <a:srgbClr val="191515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13" name="صورة 12" descr="&quot;Students crowded in front of the Head of Department's office due to registration problems.&quot;&#10;">
            <a:extLst>
              <a:ext uri="{FF2B5EF4-FFF2-40B4-BE49-F238E27FC236}">
                <a16:creationId xmlns:a16="http://schemas.microsoft.com/office/drawing/2014/main" id="{EF40D0A8-30BA-D19F-6449-1086D5958B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480" y="196655"/>
            <a:ext cx="4063489" cy="2211827"/>
          </a:xfrm>
          <a:prstGeom prst="rect">
            <a:avLst/>
          </a:prstGeom>
        </p:spPr>
      </p:pic>
      <p:sp>
        <p:nvSpPr>
          <p:cNvPr id="15" name="مربع نص 14">
            <a:extLst>
              <a:ext uri="{FF2B5EF4-FFF2-40B4-BE49-F238E27FC236}">
                <a16:creationId xmlns:a16="http://schemas.microsoft.com/office/drawing/2014/main" id="{4AA63318-9D34-06C0-4A1D-259FF923C690}"/>
              </a:ext>
            </a:extLst>
          </p:cNvPr>
          <p:cNvSpPr txBox="1"/>
          <p:nvPr/>
        </p:nvSpPr>
        <p:spPr>
          <a:xfrm>
            <a:off x="4832984" y="2456334"/>
            <a:ext cx="599503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"Students crowded due to registration problems."</a:t>
            </a:r>
            <a:endParaRPr lang="ar-SA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/>
        </p:nvSpPr>
        <p:spPr>
          <a:xfrm>
            <a:off x="96642" y="260195"/>
            <a:ext cx="3442511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" sz="7600" dirty="0">
                <a:solidFill>
                  <a:srgbClr val="191515"/>
                </a:solidFill>
                <a:latin typeface="Anton"/>
                <a:sym typeface="Anton"/>
              </a:rPr>
              <a:t> </a:t>
            </a:r>
            <a:endParaRPr lang="en-US" sz="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6FF2FA-1C7D-C04A-3788-A04BC287F83A}"/>
              </a:ext>
            </a:extLst>
          </p:cNvPr>
          <p:cNvSpPr txBox="1"/>
          <p:nvPr/>
        </p:nvSpPr>
        <p:spPr>
          <a:xfrm>
            <a:off x="-169499" y="4371779"/>
            <a:ext cx="4627000" cy="395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algn="l" rtl="0">
              <a:lnSpc>
                <a:spcPct val="105999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/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33CA79D1-9189-BD88-8686-4C94324E0C61}"/>
              </a:ext>
            </a:extLst>
          </p:cNvPr>
          <p:cNvSpPr txBox="1"/>
          <p:nvPr/>
        </p:nvSpPr>
        <p:spPr>
          <a:xfrm>
            <a:off x="223024" y="216795"/>
            <a:ext cx="8400586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ar-SA" sz="2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400" b="1" dirty="0"/>
              <a:t>                     Technical Stack and Tools</a:t>
            </a:r>
            <a:endParaRPr lang="en-US" sz="24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 system shall adhere to the following technical standards: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Programming Language: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Python 3.x (latest stable release). 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b="1" dirty="0"/>
              <a:t>GUI Framework:</a:t>
            </a:r>
            <a:r>
              <a:rPr lang="en-US" dirty="0"/>
              <a:t> </a:t>
            </a:r>
            <a:r>
              <a:rPr lang="en-US" sz="1600" dirty="0"/>
              <a:t>PyQt5 for a responsive and user-friendly interface.</a:t>
            </a:r>
          </a:p>
          <a:p>
            <a:endParaRPr lang="en-US" sz="16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Database: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SQLite3 for persistent data storage. 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Design Paradigm: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Object-Oriented Programming (OOP) with modular, reusable classes.  </a:t>
            </a:r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/>
        </p:nvSpPr>
        <p:spPr>
          <a:xfrm>
            <a:off x="273718" y="344254"/>
            <a:ext cx="463112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/>
            <a:r>
              <a:rPr lang="en-US" sz="3200" b="1" dirty="0"/>
              <a:t>System Functionality</a:t>
            </a:r>
            <a:endParaRPr sz="3200" b="1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78106CB7-99D9-1516-FE90-67C1156FB4ED}"/>
              </a:ext>
            </a:extLst>
          </p:cNvPr>
          <p:cNvSpPr txBox="1"/>
          <p:nvPr/>
        </p:nvSpPr>
        <p:spPr>
          <a:xfrm>
            <a:off x="167640" y="1450846"/>
            <a:ext cx="88163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For Students:</a:t>
            </a:r>
          </a:p>
          <a:p>
            <a:r>
              <a:rPr lang="en-US" b="1" dirty="0"/>
              <a:t>Smart Registration:</a:t>
            </a:r>
            <a:r>
              <a:rPr lang="en-US" dirty="0"/>
              <a:t> Automatically validates prerequisites and checks for time conflicts.</a:t>
            </a:r>
          </a:p>
          <a:p>
            <a:r>
              <a:rPr lang="en-US" b="1" dirty="0"/>
              <a:t>Visual Timetable:</a:t>
            </a:r>
            <a:r>
              <a:rPr lang="en-US" dirty="0"/>
              <a:t> Displays a clear, color-coded weekly schedule.</a:t>
            </a:r>
          </a:p>
          <a:p>
            <a:r>
              <a:rPr lang="en-US" b="1" dirty="0"/>
              <a:t>Credit Logic:</a:t>
            </a:r>
            <a:r>
              <a:rPr lang="en-US" dirty="0"/>
              <a:t> Enforces minimum and maximum credit hour limits.</a:t>
            </a:r>
          </a:p>
          <a:p>
            <a:endParaRPr lang="en-US" dirty="0"/>
          </a:p>
          <a:p>
            <a:r>
              <a:rPr lang="en-US" b="1" dirty="0"/>
              <a:t>For Administrators:</a:t>
            </a:r>
            <a:endParaRPr lang="en-US" dirty="0"/>
          </a:p>
          <a:p>
            <a:r>
              <a:rPr lang="en-US" b="1" dirty="0"/>
              <a:t>Course Management:</a:t>
            </a:r>
            <a:r>
              <a:rPr lang="en-US" dirty="0"/>
              <a:t> Add, delete, and modify courses with specific schedules.</a:t>
            </a:r>
          </a:p>
          <a:p>
            <a:r>
              <a:rPr lang="en-US" b="1" dirty="0"/>
              <a:t>Plan Management:</a:t>
            </a:r>
            <a:r>
              <a:rPr lang="en-US" dirty="0"/>
              <a:t> Define curriculum plans for Computer, Power, and Comm programs.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/>
        </p:nvSpPr>
        <p:spPr>
          <a:xfrm>
            <a:off x="391707" y="346703"/>
            <a:ext cx="53508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/>
            <a:r>
              <a:rPr lang="en-US" sz="3200" b="1" dirty="0"/>
              <a:t>Challenges and Solutions</a:t>
            </a:r>
            <a:endParaRPr sz="3200" b="1" dirty="0"/>
          </a:p>
        </p:txBody>
      </p:sp>
      <p:sp>
        <p:nvSpPr>
          <p:cNvPr id="108" name="Google Shape;108;p16"/>
          <p:cNvSpPr txBox="1"/>
          <p:nvPr/>
        </p:nvSpPr>
        <p:spPr>
          <a:xfrm>
            <a:off x="391706" y="1637694"/>
            <a:ext cx="799791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Challenge</a:t>
            </a:r>
            <a:r>
              <a:rPr lang="en-US" sz="1600" b="1" dirty="0"/>
              <a:t> 1: </a:t>
            </a:r>
            <a:r>
              <a:rPr lang="en-US" sz="1600" dirty="0"/>
              <a:t>Complex Prerequisites</a:t>
            </a:r>
          </a:p>
          <a:p>
            <a:r>
              <a:rPr lang="en-US" b="1" i="1" dirty="0"/>
              <a:t>Solution</a:t>
            </a:r>
            <a:r>
              <a:rPr lang="en-US" sz="1600" i="1" dirty="0"/>
              <a:t>:</a:t>
            </a:r>
            <a:r>
              <a:rPr lang="en-US" sz="1600" dirty="0"/>
              <a:t> Implemented a recursive check that verifies a student's transcript before allowing registration.</a:t>
            </a:r>
          </a:p>
          <a:p>
            <a:endParaRPr lang="en-US" sz="1600" dirty="0"/>
          </a:p>
          <a:p>
            <a:r>
              <a:rPr lang="en-US" b="1" dirty="0"/>
              <a:t>Challenge 2</a:t>
            </a:r>
            <a:r>
              <a:rPr lang="en-US" sz="2400" b="1" dirty="0"/>
              <a:t>: </a:t>
            </a:r>
            <a:r>
              <a:rPr lang="en-US" sz="1600" dirty="0"/>
              <a:t>Program Plan Validation</a:t>
            </a:r>
          </a:p>
          <a:p>
            <a:r>
              <a:rPr lang="en-US" b="1" dirty="0"/>
              <a:t>Solution</a:t>
            </a:r>
            <a:r>
              <a:rPr lang="en-US" sz="1600" i="1" dirty="0"/>
              <a:t>:</a:t>
            </a:r>
            <a:r>
              <a:rPr lang="en-US" sz="1600" dirty="0"/>
              <a:t> Created a specific "Manage Plans" module to link courses to specific program levels, ensuring students follow their track.</a:t>
            </a:r>
          </a:p>
          <a:p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7A502F3-FFE5-29CB-4F1D-7CE3559FB9DA}"/>
                  </a:ext>
                </a:extLst>
              </p14:cNvPr>
              <p14:cNvContentPartPr/>
              <p14:nvPr/>
            </p14:nvContentPartPr>
            <p14:xfrm>
              <a:off x="8204152" y="307035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7A502F3-FFE5-29CB-4F1D-7CE3559FB9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86512" y="305271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3234F88-FF61-256E-9F39-A956E3A534F7}"/>
                  </a:ext>
                </a:extLst>
              </p14:cNvPr>
              <p14:cNvContentPartPr/>
              <p14:nvPr/>
            </p14:nvContentPartPr>
            <p14:xfrm>
              <a:off x="8207053" y="307157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3234F88-FF61-256E-9F39-A956E3A534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89413" y="305393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A1B9E724-7F74-CE37-FB83-DC9985F63B3E}"/>
              </a:ext>
            </a:extLst>
          </p:cNvPr>
          <p:cNvSpPr txBox="1"/>
          <p:nvPr/>
        </p:nvSpPr>
        <p:spPr>
          <a:xfrm>
            <a:off x="1251584" y="1802309"/>
            <a:ext cx="63455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System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086546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6C60CE58-6EA9-B81C-BC1F-C3906A8E8D7C}"/>
              </a:ext>
            </a:extLst>
          </p:cNvPr>
          <p:cNvSpPr txBox="1"/>
          <p:nvPr/>
        </p:nvSpPr>
        <p:spPr>
          <a:xfrm>
            <a:off x="0" y="2140863"/>
            <a:ext cx="457581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Login Screen</a:t>
            </a:r>
          </a:p>
          <a:p>
            <a:r>
              <a:rPr lang="en-US" sz="1600" dirty="0"/>
              <a:t>Includes Password</a:t>
            </a:r>
          </a:p>
          <a:p>
            <a:r>
              <a:rPr lang="en-US" sz="1600" dirty="0"/>
              <a:t>Recovery</a:t>
            </a:r>
            <a:endParaRPr lang="ar-SA" sz="1600" dirty="0"/>
          </a:p>
        </p:txBody>
      </p:sp>
      <p:pic>
        <p:nvPicPr>
          <p:cNvPr id="8" name="صورة 7" descr="صورة تحتوي على نص, لقطة شاشة, برمجيات, صفحة ويب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3C0DFDC9-8AFC-C20F-8FD5-E8317F068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656" y="251461"/>
            <a:ext cx="7200899" cy="477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50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 descr="صورة تحتوي على نص, لقطة شاشة, برمجيات, برامج الوسائط المتعددة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C2AF6DBC-B0F0-56B1-B04E-8B8E69CBA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60960"/>
            <a:ext cx="7338227" cy="4986337"/>
          </a:xfrm>
          <a:prstGeom prst="rect">
            <a:avLst/>
          </a:prstGeom>
        </p:spPr>
      </p:pic>
      <p:sp>
        <p:nvSpPr>
          <p:cNvPr id="9" name="مربع نص 8">
            <a:extLst>
              <a:ext uri="{FF2B5EF4-FFF2-40B4-BE49-F238E27FC236}">
                <a16:creationId xmlns:a16="http://schemas.microsoft.com/office/drawing/2014/main" id="{553E1ED7-88CD-6569-7239-C2EC0DA6541A}"/>
              </a:ext>
            </a:extLst>
          </p:cNvPr>
          <p:cNvSpPr txBox="1"/>
          <p:nvPr/>
        </p:nvSpPr>
        <p:spPr>
          <a:xfrm>
            <a:off x="135086" y="2006084"/>
            <a:ext cx="18326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sz="1800" b="1" dirty="0"/>
              <a:t>Admin main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صورة تحتوي على نص, لقطة شاشة, برمجيات, أيقونة الحاسوب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F144C603-1C00-BD0E-441D-F0DECC795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44781"/>
            <a:ext cx="7183755" cy="4858226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F026C173-A94B-7881-6E91-B6E56A585D5C}"/>
              </a:ext>
            </a:extLst>
          </p:cNvPr>
          <p:cNvSpPr txBox="1"/>
          <p:nvPr/>
        </p:nvSpPr>
        <p:spPr>
          <a:xfrm>
            <a:off x="0" y="1925419"/>
            <a:ext cx="4514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sz="1800" b="1" dirty="0"/>
              <a:t>    (Admin)</a:t>
            </a:r>
          </a:p>
          <a:p>
            <a:pPr marL="0" lvl="1"/>
            <a:r>
              <a:rPr lang="en-US" sz="1800" b="1" dirty="0"/>
              <a:t>Manage student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0" y="2128004"/>
            <a:ext cx="88510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       (Admin)</a:t>
            </a: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   Manage Courses</a:t>
            </a:r>
            <a:endParaRPr b="1" dirty="0"/>
          </a:p>
        </p:txBody>
      </p:sp>
      <p:pic>
        <p:nvPicPr>
          <p:cNvPr id="3" name="صورة 2" descr="صورة تحتوي على نص, لقطة شاشة, برمجيات, أيقونة الحاسوب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AB9D4B76-3094-7D45-B4C8-EF326775C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780" y="140494"/>
            <a:ext cx="6947735" cy="48091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صورة تحتوي على نص, لقطة شاشة, برمجيات, أيقونة الحاسوب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C10D0A05-586D-763F-FE61-EB28A6AC5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780" y="140494"/>
            <a:ext cx="7475220" cy="4862512"/>
          </a:xfrm>
          <a:prstGeom prst="rect">
            <a:avLst/>
          </a:prstGeom>
        </p:spPr>
      </p:pic>
      <p:sp>
        <p:nvSpPr>
          <p:cNvPr id="5" name="مربع نص 4">
            <a:extLst>
              <a:ext uri="{FF2B5EF4-FFF2-40B4-BE49-F238E27FC236}">
                <a16:creationId xmlns:a16="http://schemas.microsoft.com/office/drawing/2014/main" id="{41CA3795-ABCA-9EFE-3B9B-C480DE6DCA3E}"/>
              </a:ext>
            </a:extLst>
          </p:cNvPr>
          <p:cNvSpPr txBox="1"/>
          <p:nvPr/>
        </p:nvSpPr>
        <p:spPr>
          <a:xfrm>
            <a:off x="0" y="2051804"/>
            <a:ext cx="4575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     (Admin)</a:t>
            </a: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Manage Plans</a:t>
            </a:r>
          </a:p>
        </p:txBody>
      </p:sp>
    </p:spTree>
    <p:extLst>
      <p:ext uri="{BB962C8B-B14F-4D97-AF65-F5344CB8AC3E}">
        <p14:creationId xmlns:p14="http://schemas.microsoft.com/office/powerpoint/2010/main" val="1259538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65E9D421-6C73-8E41-AAAA-371EECE6CAD4}"/>
              </a:ext>
            </a:extLst>
          </p:cNvPr>
          <p:cNvSpPr txBox="1"/>
          <p:nvPr/>
        </p:nvSpPr>
        <p:spPr>
          <a:xfrm>
            <a:off x="57150" y="2095738"/>
            <a:ext cx="2503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sz="1800" b="1" dirty="0"/>
              <a:t>Student main dashboard</a:t>
            </a:r>
          </a:p>
        </p:txBody>
      </p:sp>
      <p:pic>
        <p:nvPicPr>
          <p:cNvPr id="5" name="صورة 4" descr="صورة تحتوي على نص, لقطة شاشة, برمجيات, أيقونة الحاسوب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BD8FC06D-3C88-A7EB-CADD-61052BEB1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150019"/>
            <a:ext cx="7231380" cy="48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192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صورة تحتوي على نص, لقطة شاشة, برمجيات, عرض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AE735B9F-FCF6-23A8-8C58-418DA68BC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60" y="133350"/>
            <a:ext cx="7520940" cy="4876800"/>
          </a:xfrm>
          <a:prstGeom prst="rect">
            <a:avLst/>
          </a:prstGeom>
        </p:spPr>
      </p:pic>
      <p:sp>
        <p:nvSpPr>
          <p:cNvPr id="5" name="مربع نص 4">
            <a:extLst>
              <a:ext uri="{FF2B5EF4-FFF2-40B4-BE49-F238E27FC236}">
                <a16:creationId xmlns:a16="http://schemas.microsoft.com/office/drawing/2014/main" id="{82BBCF36-687C-FA41-BFC5-F800801C521E}"/>
              </a:ext>
            </a:extLst>
          </p:cNvPr>
          <p:cNvSpPr txBox="1"/>
          <p:nvPr/>
        </p:nvSpPr>
        <p:spPr>
          <a:xfrm>
            <a:off x="0" y="2150864"/>
            <a:ext cx="4575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sz="1800" b="1" dirty="0"/>
              <a:t> (Student) </a:t>
            </a:r>
            <a:endParaRPr lang="en-US" b="1" dirty="0"/>
          </a:p>
          <a:p>
            <a:pPr marL="0" lvl="1"/>
            <a:r>
              <a:rPr lang="en-US" sz="1800" b="1" dirty="0"/>
              <a:t>Registration</a:t>
            </a:r>
          </a:p>
        </p:txBody>
      </p:sp>
    </p:spTree>
    <p:extLst>
      <p:ext uri="{BB962C8B-B14F-4D97-AF65-F5344CB8AC3E}">
        <p14:creationId xmlns:p14="http://schemas.microsoft.com/office/powerpoint/2010/main" val="3761122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صورة تحتوي على نص, لقطة شاشة, برمجيات, رق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44B5C6EC-8E21-9F72-F0E9-2466169E3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40" y="164306"/>
            <a:ext cx="7871460" cy="4814887"/>
          </a:xfrm>
          <a:prstGeom prst="rect">
            <a:avLst/>
          </a:prstGeom>
        </p:spPr>
      </p:pic>
      <p:sp>
        <p:nvSpPr>
          <p:cNvPr id="5" name="مربع نص 4">
            <a:extLst>
              <a:ext uri="{FF2B5EF4-FFF2-40B4-BE49-F238E27FC236}">
                <a16:creationId xmlns:a16="http://schemas.microsoft.com/office/drawing/2014/main" id="{7F5E1257-4706-4FDF-5965-9FC2FAD95A2D}"/>
              </a:ext>
            </a:extLst>
          </p:cNvPr>
          <p:cNvSpPr txBox="1"/>
          <p:nvPr/>
        </p:nvSpPr>
        <p:spPr>
          <a:xfrm>
            <a:off x="-3810" y="1872078"/>
            <a:ext cx="4575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sz="1800" b="1" dirty="0"/>
              <a:t> (Student) </a:t>
            </a:r>
            <a:endParaRPr lang="en-US" b="1" dirty="0"/>
          </a:p>
          <a:p>
            <a:pPr marL="0" lvl="1"/>
            <a:r>
              <a:rPr lang="en-US" sz="1800" b="1" dirty="0"/>
              <a:t> Schedule</a:t>
            </a:r>
          </a:p>
        </p:txBody>
      </p:sp>
    </p:spTree>
    <p:extLst>
      <p:ext uri="{BB962C8B-B14F-4D97-AF65-F5344CB8AC3E}">
        <p14:creationId xmlns:p14="http://schemas.microsoft.com/office/powerpoint/2010/main" val="1679277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40FC770A-5DE2-3918-3F77-89AFBDD80164}"/>
              </a:ext>
            </a:extLst>
          </p:cNvPr>
          <p:cNvSpPr txBox="1"/>
          <p:nvPr/>
        </p:nvSpPr>
        <p:spPr>
          <a:xfrm>
            <a:off x="123825" y="2012365"/>
            <a:ext cx="16287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sz="1800" b="1" dirty="0"/>
              <a:t>  (Student) </a:t>
            </a:r>
            <a:endParaRPr lang="en-US" b="1" dirty="0"/>
          </a:p>
          <a:p>
            <a:pPr marL="0" lvl="1"/>
            <a:r>
              <a:rPr lang="en-US" sz="1800" b="1" dirty="0"/>
              <a:t>  Academic</a:t>
            </a:r>
          </a:p>
          <a:p>
            <a:pPr marL="0" lvl="1"/>
            <a:r>
              <a:rPr lang="en-US" b="1" dirty="0"/>
              <a:t>   History</a:t>
            </a:r>
            <a:endParaRPr lang="en-US" sz="1800" b="1" dirty="0"/>
          </a:p>
        </p:txBody>
      </p:sp>
      <p:pic>
        <p:nvPicPr>
          <p:cNvPr id="5" name="صورة 4" descr="صورة تحتوي على نص, لقطة شاشة, رقم, برمجيات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4BA28243-5102-8869-B173-920A202D5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60" y="150019"/>
            <a:ext cx="7520940" cy="48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93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صورة تحتوي على نص, لقطة شاشة, برمجيات, عرض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6AD49836-1DD5-BDE3-E3B8-C26C7DA26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7162"/>
            <a:ext cx="8001000" cy="4829175"/>
          </a:xfrm>
          <a:prstGeom prst="rect">
            <a:avLst/>
          </a:prstGeom>
        </p:spPr>
      </p:pic>
      <p:sp>
        <p:nvSpPr>
          <p:cNvPr id="5" name="مربع نص 4">
            <a:extLst>
              <a:ext uri="{FF2B5EF4-FFF2-40B4-BE49-F238E27FC236}">
                <a16:creationId xmlns:a16="http://schemas.microsoft.com/office/drawing/2014/main" id="{5207AD6C-510B-3A8F-3584-6534F00789BC}"/>
              </a:ext>
            </a:extLst>
          </p:cNvPr>
          <p:cNvSpPr txBox="1"/>
          <p:nvPr/>
        </p:nvSpPr>
        <p:spPr>
          <a:xfrm>
            <a:off x="-127635" y="1837105"/>
            <a:ext cx="4575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sz="1800" b="1" dirty="0"/>
              <a:t> (Student) </a:t>
            </a:r>
            <a:endParaRPr lang="en-US" b="1" dirty="0"/>
          </a:p>
          <a:p>
            <a:pPr marL="0" lvl="1"/>
            <a:r>
              <a:rPr lang="en-US" sz="1800" b="1" dirty="0"/>
              <a:t>  My Plan</a:t>
            </a:r>
          </a:p>
        </p:txBody>
      </p:sp>
    </p:spTree>
    <p:extLst>
      <p:ext uri="{BB962C8B-B14F-4D97-AF65-F5344CB8AC3E}">
        <p14:creationId xmlns:p14="http://schemas.microsoft.com/office/powerpoint/2010/main" val="3098883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صورة تحتوي على نص, لقطة شاشة, برمجيات, أيقونة الحاسوب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F8338353-8A66-84DC-98C8-A97B259F8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0019"/>
            <a:ext cx="8001000" cy="4843462"/>
          </a:xfrm>
          <a:prstGeom prst="rect">
            <a:avLst/>
          </a:prstGeom>
        </p:spPr>
      </p:pic>
      <p:sp>
        <p:nvSpPr>
          <p:cNvPr id="5" name="مربع نص 4">
            <a:extLst>
              <a:ext uri="{FF2B5EF4-FFF2-40B4-BE49-F238E27FC236}">
                <a16:creationId xmlns:a16="http://schemas.microsoft.com/office/drawing/2014/main" id="{AA8FB29B-3B2F-CFA1-8173-E077429A834E}"/>
              </a:ext>
            </a:extLst>
          </p:cNvPr>
          <p:cNvSpPr txBox="1"/>
          <p:nvPr/>
        </p:nvSpPr>
        <p:spPr>
          <a:xfrm>
            <a:off x="-114300" y="1925419"/>
            <a:ext cx="4575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sz="1800" b="1" dirty="0"/>
              <a:t> (Student) </a:t>
            </a:r>
            <a:endParaRPr lang="en-US" b="1" dirty="0"/>
          </a:p>
          <a:p>
            <a:pPr marL="0" lvl="1"/>
            <a:r>
              <a:rPr lang="en-US" sz="1800" b="1" dirty="0"/>
              <a:t>  Settings</a:t>
            </a:r>
          </a:p>
        </p:txBody>
      </p:sp>
    </p:spTree>
    <p:extLst>
      <p:ext uri="{BB962C8B-B14F-4D97-AF65-F5344CB8AC3E}">
        <p14:creationId xmlns:p14="http://schemas.microsoft.com/office/powerpoint/2010/main" val="2847685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/>
        </p:nvSpPr>
        <p:spPr>
          <a:xfrm>
            <a:off x="1038354" y="1697025"/>
            <a:ext cx="6374274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THANK YOU 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  FOR LISTENING</a:t>
            </a:r>
            <a:r>
              <a:rPr lang="en" sz="24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واجهة">
  <a:themeElements>
    <a:clrScheme name="واجهة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واجهة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واجهة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واجهة">
  <a:themeElements>
    <a:clrScheme name="واجهة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واجهة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واجهة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1346</TotalTime>
  <Words>343</Words>
  <Application>Microsoft Office PowerPoint</Application>
  <PresentationFormat>عرض على الشاشة (16:9)</PresentationFormat>
  <Paragraphs>71</Paragraphs>
  <Slides>18</Slides>
  <Notes>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2</vt:i4>
      </vt:variant>
      <vt:variant>
        <vt:lpstr>عناوين الشرائح</vt:lpstr>
      </vt:variant>
      <vt:variant>
        <vt:i4>18</vt:i4>
      </vt:variant>
    </vt:vector>
  </HeadingPairs>
  <TitlesOfParts>
    <vt:vector size="26" baseType="lpstr">
      <vt:lpstr>Anton</vt:lpstr>
      <vt:lpstr>Arial</vt:lpstr>
      <vt:lpstr>Alata</vt:lpstr>
      <vt:lpstr>Wingdings 3</vt:lpstr>
      <vt:lpstr>Trebuchet MS</vt:lpstr>
      <vt:lpstr>Calibri</vt:lpstr>
      <vt:lpstr>واجهة</vt:lpstr>
      <vt:lpstr>1_واجهة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Suliman Alassiri</cp:lastModifiedBy>
  <cp:revision>10</cp:revision>
  <dcterms:modified xsi:type="dcterms:W3CDTF">2025-12-06T17:08:04Z</dcterms:modified>
</cp:coreProperties>
</file>